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T Interphases" charset="1" panose="02000503020000020004"/>
      <p:regular r:id="rId18"/>
    </p:embeddedFont>
    <p:embeddedFont>
      <p:font typeface="Cooper BT Light" charset="1" panose="0208050304030B020404"/>
      <p:regular r:id="rId19"/>
    </p:embeddedFont>
    <p:embeddedFont>
      <p:font typeface="TT Interphases Bold" charset="1" panose="02000803060000020004"/>
      <p:regular r:id="rId20"/>
    </p:embeddedFont>
    <p:embeddedFont>
      <p:font typeface="Cooper BT Medium" charset="1" panose="0208060305030B0204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32F2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66750"/>
            <a:ext cx="8324850" cy="3941499"/>
            <a:chOff x="0" y="0"/>
            <a:chExt cx="11099800" cy="525533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4737172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</a:pPr>
              <a:r>
                <a:rPr lang="en-US" sz="2399" spc="-47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An Overview of Economic Trends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28600"/>
              <a:ext cx="11099800" cy="40470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499"/>
                </a:lnSpc>
              </a:pPr>
              <a:r>
                <a:rPr lang="en-US" sz="11499" spc="-229">
                  <a:solidFill>
                    <a:srgbClr val="D32F2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Inflation in Singapore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8724859"/>
            <a:ext cx="8324850" cy="895391"/>
            <a:chOff x="0" y="0"/>
            <a:chExt cx="11099800" cy="119385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659184"/>
              <a:ext cx="110998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Economics Student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9050"/>
              <a:ext cx="11099800" cy="581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800">
                  <a:solidFill>
                    <a:srgbClr val="9E1A1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[Your Name Here]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3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4722495"/>
            <a:chOff x="0" y="0"/>
            <a:chExt cx="11099800" cy="62966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4737100"/>
              <a:ext cx="110998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Inflation is defined as the </a:t>
              </a:r>
              <a:r>
                <a:rPr lang="en-US" b="true" sz="2400" spc="-48" strike="noStrike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sustained increase</a:t>
              </a: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in the general price level of goods and services over time, often measured by the Consumer Price Index (CPI).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0975"/>
              <a:ext cx="11099800" cy="3341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Understanding Inflation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4330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Key Definitions and Concepts in Economics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5400000">
            <a:off x="6176504" y="61454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73009" y="666750"/>
            <a:ext cx="9148241" cy="8953500"/>
            <a:chOff x="0" y="0"/>
            <a:chExt cx="240941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9413" cy="2358124"/>
            </a:xfrm>
            <a:custGeom>
              <a:avLst/>
              <a:gdLst/>
              <a:ahLst/>
              <a:cxnLst/>
              <a:rect r="r" b="b" t="t" l="l"/>
              <a:pathLst>
                <a:path h="2358124" w="2409413">
                  <a:moveTo>
                    <a:pt x="33851" y="0"/>
                  </a:moveTo>
                  <a:lnTo>
                    <a:pt x="2375562" y="0"/>
                  </a:lnTo>
                  <a:cubicBezTo>
                    <a:pt x="2394258" y="0"/>
                    <a:pt x="2409413" y="15156"/>
                    <a:pt x="2409413" y="33851"/>
                  </a:cubicBezTo>
                  <a:lnTo>
                    <a:pt x="2409413" y="2324272"/>
                  </a:lnTo>
                  <a:cubicBezTo>
                    <a:pt x="2409413" y="2342968"/>
                    <a:pt x="2394258" y="2358124"/>
                    <a:pt x="2375562" y="2358124"/>
                  </a:cubicBezTo>
                  <a:lnTo>
                    <a:pt x="33851" y="2358124"/>
                  </a:lnTo>
                  <a:cubicBezTo>
                    <a:pt x="24873" y="2358124"/>
                    <a:pt x="16263" y="2354557"/>
                    <a:pt x="9915" y="2348209"/>
                  </a:cubicBezTo>
                  <a:cubicBezTo>
                    <a:pt x="3566" y="2341861"/>
                    <a:pt x="0" y="2333250"/>
                    <a:pt x="0" y="2324272"/>
                  </a:cubicBezTo>
                  <a:lnTo>
                    <a:pt x="0" y="33851"/>
                  </a:lnTo>
                  <a:cubicBezTo>
                    <a:pt x="0" y="15156"/>
                    <a:pt x="15156" y="0"/>
                    <a:pt x="33851" y="0"/>
                  </a:cubicBezTo>
                  <a:close/>
                </a:path>
              </a:pathLst>
            </a:custGeom>
            <a:solidFill>
              <a:srgbClr val="F34F46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09413" cy="2386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3438526"/>
            <a:chOff x="0" y="0"/>
            <a:chExt cx="9182100" cy="458470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545841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9E1A1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Understanding different inflation categories in detail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71450"/>
              <a:ext cx="9182100" cy="2986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169" strike="noStrike" u="none">
                  <a:solidFill>
                    <a:srgbClr val="D32F2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Types of Inflation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1562100"/>
            <a:ext cx="6886575" cy="1294130"/>
            <a:chOff x="0" y="0"/>
            <a:chExt cx="9182100" cy="172550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28575"/>
              <a:ext cx="918210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9E1A1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Demand-Pull Inflation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Occurs when demand outpaces supply, driving prices up.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3354706"/>
            <a:ext cx="6886575" cy="1294130"/>
            <a:chOff x="0" y="0"/>
            <a:chExt cx="9182100" cy="172550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28575"/>
              <a:ext cx="918210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9E1A1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Cost-Push Inflation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Results from rising production costs leading to higher prices.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96400" y="5144135"/>
            <a:ext cx="6886575" cy="1294130"/>
            <a:chOff x="0" y="0"/>
            <a:chExt cx="9182100" cy="172550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28575"/>
              <a:ext cx="918210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9E1A1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Imported Inflation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Arises from increased costs of imported goods and services.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96400" y="6933565"/>
            <a:ext cx="6886575" cy="1294130"/>
            <a:chOff x="0" y="0"/>
            <a:chExt cx="9182100" cy="1725506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28575"/>
              <a:ext cx="918210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9E1A1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Other Inflation Types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Includes built-in inflation and stagflation dynamics affecting prices.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-700808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3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6666563"/>
            <a:ext cx="5448300" cy="2953687"/>
            <a:chOff x="0" y="0"/>
            <a:chExt cx="1434943" cy="7779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943" cy="777926"/>
            </a:xfrm>
            <a:custGeom>
              <a:avLst/>
              <a:gdLst/>
              <a:ahLst/>
              <a:cxnLst/>
              <a:rect r="r" b="b" t="t" l="l"/>
              <a:pathLst>
                <a:path h="77792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721087"/>
                  </a:lnTo>
                  <a:cubicBezTo>
                    <a:pt x="1434943" y="752478"/>
                    <a:pt x="1409495" y="777926"/>
                    <a:pt x="1378104" y="777926"/>
                  </a:cubicBezTo>
                  <a:lnTo>
                    <a:pt x="56839" y="777926"/>
                  </a:lnTo>
                  <a:cubicBezTo>
                    <a:pt x="25448" y="777926"/>
                    <a:pt x="0" y="752478"/>
                    <a:pt x="0" y="72108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34943" cy="806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6666563"/>
            <a:ext cx="5448300" cy="2953687"/>
            <a:chOff x="0" y="0"/>
            <a:chExt cx="1434943" cy="7779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777926"/>
            </a:xfrm>
            <a:custGeom>
              <a:avLst/>
              <a:gdLst/>
              <a:ahLst/>
              <a:cxnLst/>
              <a:rect r="r" b="b" t="t" l="l"/>
              <a:pathLst>
                <a:path h="77792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721087"/>
                  </a:lnTo>
                  <a:cubicBezTo>
                    <a:pt x="1434943" y="752478"/>
                    <a:pt x="1409495" y="777926"/>
                    <a:pt x="1378104" y="777926"/>
                  </a:cubicBezTo>
                  <a:lnTo>
                    <a:pt x="56839" y="777926"/>
                  </a:lnTo>
                  <a:cubicBezTo>
                    <a:pt x="25448" y="777926"/>
                    <a:pt x="0" y="752478"/>
                    <a:pt x="0" y="72108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34943" cy="806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6563"/>
            <a:ext cx="5448300" cy="2953687"/>
            <a:chOff x="0" y="0"/>
            <a:chExt cx="1434943" cy="7779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777926"/>
            </a:xfrm>
            <a:custGeom>
              <a:avLst/>
              <a:gdLst/>
              <a:ahLst/>
              <a:cxnLst/>
              <a:rect r="r" b="b" t="t" l="l"/>
              <a:pathLst>
                <a:path h="77792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721087"/>
                  </a:lnTo>
                  <a:cubicBezTo>
                    <a:pt x="1434943" y="752478"/>
                    <a:pt x="1409495" y="777926"/>
                    <a:pt x="1378104" y="777926"/>
                  </a:cubicBezTo>
                  <a:lnTo>
                    <a:pt x="56839" y="777926"/>
                  </a:lnTo>
                  <a:cubicBezTo>
                    <a:pt x="25448" y="777926"/>
                    <a:pt x="0" y="752478"/>
                    <a:pt x="0" y="72108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806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172950" y="3352800"/>
            <a:ext cx="5448300" cy="2953687"/>
            <a:chOff x="0" y="0"/>
            <a:chExt cx="1434943" cy="7779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4943" cy="777926"/>
            </a:xfrm>
            <a:custGeom>
              <a:avLst/>
              <a:gdLst/>
              <a:ahLst/>
              <a:cxnLst/>
              <a:rect r="r" b="b" t="t" l="l"/>
              <a:pathLst>
                <a:path h="77792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721087"/>
                  </a:lnTo>
                  <a:cubicBezTo>
                    <a:pt x="1434943" y="752478"/>
                    <a:pt x="1409495" y="777926"/>
                    <a:pt x="1378104" y="777926"/>
                  </a:cubicBezTo>
                  <a:lnTo>
                    <a:pt x="56839" y="777926"/>
                  </a:lnTo>
                  <a:cubicBezTo>
                    <a:pt x="25448" y="777926"/>
                    <a:pt x="0" y="752478"/>
                    <a:pt x="0" y="72108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434943" cy="806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19850" y="3352800"/>
            <a:ext cx="5448300" cy="2953687"/>
            <a:chOff x="0" y="0"/>
            <a:chExt cx="1434943" cy="7779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34943" cy="777926"/>
            </a:xfrm>
            <a:custGeom>
              <a:avLst/>
              <a:gdLst/>
              <a:ahLst/>
              <a:cxnLst/>
              <a:rect r="r" b="b" t="t" l="l"/>
              <a:pathLst>
                <a:path h="77792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721087"/>
                  </a:lnTo>
                  <a:cubicBezTo>
                    <a:pt x="1434943" y="752478"/>
                    <a:pt x="1409495" y="777926"/>
                    <a:pt x="1378104" y="777926"/>
                  </a:cubicBezTo>
                  <a:lnTo>
                    <a:pt x="56839" y="777926"/>
                  </a:lnTo>
                  <a:cubicBezTo>
                    <a:pt x="25448" y="777926"/>
                    <a:pt x="0" y="752478"/>
                    <a:pt x="0" y="72108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434943" cy="806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66750" y="3352800"/>
            <a:ext cx="5448300" cy="2953687"/>
            <a:chOff x="0" y="0"/>
            <a:chExt cx="1434943" cy="7779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34943" cy="777926"/>
            </a:xfrm>
            <a:custGeom>
              <a:avLst/>
              <a:gdLst/>
              <a:ahLst/>
              <a:cxnLst/>
              <a:rect r="r" b="b" t="t" l="l"/>
              <a:pathLst>
                <a:path h="77792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721087"/>
                  </a:lnTo>
                  <a:cubicBezTo>
                    <a:pt x="1434943" y="752478"/>
                    <a:pt x="1409495" y="777926"/>
                    <a:pt x="1378104" y="777926"/>
                  </a:cubicBezTo>
                  <a:lnTo>
                    <a:pt x="56839" y="777926"/>
                  </a:lnTo>
                  <a:cubicBezTo>
                    <a:pt x="25448" y="777926"/>
                    <a:pt x="0" y="752478"/>
                    <a:pt x="0" y="72108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434943" cy="806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082133" y="838200"/>
            <a:ext cx="14100842" cy="112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Causes of Inflation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2396" y="3762375"/>
            <a:ext cx="469529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9E1A1A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Oil Prices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4109" y="5133404"/>
            <a:ext cx="4693581" cy="76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1"/>
              </a:lnSpc>
              <a:spcBef>
                <a:spcPct val="0"/>
              </a:spcBef>
            </a:pPr>
            <a:r>
              <a:rPr lang="en-US" sz="2354" spc="-47" strike="noStrike" u="none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Rising global oil prices directly increase transportation costs.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2134" y="7065661"/>
            <a:ext cx="469529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9E1A1A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SGD Depreciation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80346" y="5133404"/>
            <a:ext cx="4751374" cy="76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1"/>
              </a:lnSpc>
              <a:spcBef>
                <a:spcPct val="0"/>
              </a:spcBef>
            </a:pPr>
            <a:r>
              <a:rPr lang="en-US" sz="2354" spc="-47" strike="noStrike" u="none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Disruptions result in limited goods availability, driving prices higher.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786025" y="3762375"/>
            <a:ext cx="474569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9E1A1A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Supply Chain Disruptions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794050" y="6991834"/>
            <a:ext cx="474569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9E1A1A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External Demand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574921" y="3762375"/>
            <a:ext cx="468437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9E1A1A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Labor Market Conditions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46346" y="5133404"/>
            <a:ext cx="4712954" cy="76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1"/>
              </a:lnSpc>
              <a:spcBef>
                <a:spcPct val="0"/>
              </a:spcBef>
            </a:pPr>
            <a:r>
              <a:rPr lang="en-US" sz="2354" spc="-47" strike="noStrike" u="none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Tight labor markets lead to increased wage demands and costs.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82946" y="7065661"/>
            <a:ext cx="468437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9E1A1A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Government Policies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8427164"/>
            <a:ext cx="4708991" cy="76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1"/>
              </a:lnSpc>
              <a:spcBef>
                <a:spcPct val="0"/>
              </a:spcBef>
            </a:pPr>
            <a:r>
              <a:rPr lang="en-US" sz="2354" spc="-47" strike="noStrike" u="none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 weaker SGD raises import costs, contributing to inflation.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786025" y="8427164"/>
            <a:ext cx="4708991" cy="760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1"/>
              </a:lnSpc>
              <a:spcBef>
                <a:spcPct val="0"/>
              </a:spcBef>
            </a:pPr>
            <a:r>
              <a:rPr lang="en-US" sz="2354" spc="-47" strike="noStrike" u="none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Increased foreign demand for goods can push local prices up.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46346" y="8046164"/>
            <a:ext cx="4708991" cy="114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1"/>
              </a:lnSpc>
              <a:spcBef>
                <a:spcPct val="0"/>
              </a:spcBef>
            </a:pPr>
            <a:r>
              <a:rPr lang="en-US" sz="2354" spc="-47" strike="noStrike" u="none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Policies that stimulate spending may inadvertently fuel inflationary pressures.</a:t>
            </a:r>
          </a:p>
        </p:txBody>
      </p:sp>
      <p:sp>
        <p:nvSpPr>
          <p:cNvPr name="Freeform 33" id="33"/>
          <p:cNvSpPr/>
          <p:nvPr/>
        </p:nvSpPr>
        <p:spPr>
          <a:xfrm flipH="true" flipV="false" rot="0">
            <a:off x="16850868" y="692349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8324850" cy="8953500"/>
            <a:chOff x="0" y="0"/>
            <a:chExt cx="219255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2553" cy="2358124"/>
            </a:xfrm>
            <a:custGeom>
              <a:avLst/>
              <a:gdLst/>
              <a:ahLst/>
              <a:cxnLst/>
              <a:rect r="r" b="b" t="t" l="l"/>
              <a:pathLst>
                <a:path h="2358124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2320924"/>
                  </a:lnTo>
                  <a:cubicBezTo>
                    <a:pt x="2192553" y="2330790"/>
                    <a:pt x="2188634" y="2340252"/>
                    <a:pt x="2181658" y="2347228"/>
                  </a:cubicBezTo>
                  <a:cubicBezTo>
                    <a:pt x="2174682" y="2354204"/>
                    <a:pt x="2165220" y="2358124"/>
                    <a:pt x="2155354" y="2358124"/>
                  </a:cubicBezTo>
                  <a:lnTo>
                    <a:pt x="37199" y="2358124"/>
                  </a:lnTo>
                  <a:cubicBezTo>
                    <a:pt x="27333" y="2358124"/>
                    <a:pt x="17872" y="2354204"/>
                    <a:pt x="10895" y="2347228"/>
                  </a:cubicBezTo>
                  <a:cubicBezTo>
                    <a:pt x="3919" y="2340252"/>
                    <a:pt x="0" y="2330790"/>
                    <a:pt x="0" y="2320924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D32F2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2553" cy="2386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926474" y="205740"/>
            <a:ext cx="9064702" cy="987552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666750" y="666750"/>
            <a:ext cx="6886575" cy="4217670"/>
            <a:chOff x="0" y="0"/>
            <a:chExt cx="9182100" cy="562356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3543300"/>
              <a:ext cx="91821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bar chart depicts Singapore's annual average inflation rates from 2019 to 2024, highlighting key fluctuations and trends based on data from IMF and SingStat.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71450"/>
              <a:ext cx="9182100" cy="29866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169" strike="noStrike" u="none">
                  <a:solidFill>
                    <a:srgbClr val="D32F2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Recent Trends Analysis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700808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D3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685811" y="3352800"/>
          <a:ext cx="16944964" cy="6276975"/>
        </p:xfrm>
        <a:graphic>
          <a:graphicData uri="http://schemas.openxmlformats.org/drawingml/2006/table">
            <a:tbl>
              <a:tblPr/>
              <a:tblGrid>
                <a:gridCol w="5648321"/>
                <a:gridCol w="5648321"/>
                <a:gridCol w="5648321"/>
              </a:tblGrid>
              <a:tr h="15692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Cooper BT Medium"/>
                          <a:ea typeface="Cooper BT Medium"/>
                          <a:cs typeface="Cooper BT Medium"/>
                          <a:sym typeface="Cooper BT Medium"/>
                        </a:rPr>
                        <a:t>Column label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A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Cooper BT Medium"/>
                          <a:ea typeface="Cooper BT Medium"/>
                          <a:cs typeface="Cooper BT Medium"/>
                          <a:sym typeface="Cooper BT Medium"/>
                        </a:rPr>
                        <a:t>Column label 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A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Cooper BT Medium"/>
                          <a:ea typeface="Cooper BT Medium"/>
                          <a:cs typeface="Cooper BT Medium"/>
                          <a:sym typeface="Cooper BT Medium"/>
                        </a:rPr>
                        <a:t>Column label 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A1A"/>
                    </a:solidFill>
                  </a:tcPr>
                </a:tc>
              </a:tr>
              <a:tr h="15692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Elaborate on what you want to discuss.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Elaborate on what you want to discuss.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Elaborate on what you want to discuss.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</a:tr>
              <a:tr h="15692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Elaborate on what you want to discuss.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Elaborate on what you want to discuss.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Elaborate on what you want to discuss.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</a:tr>
              <a:tr h="15692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Elaborate on what you want to discuss.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Elaborate on what you want to discuss.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Elaborate on what you want to discuss.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666750" y="838200"/>
            <a:ext cx="16954500" cy="112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Key Factors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8324850" cy="6267450"/>
            <a:chOff x="0" y="0"/>
            <a:chExt cx="2192553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2553" cy="1650686"/>
            </a:xfrm>
            <a:custGeom>
              <a:avLst/>
              <a:gdLst/>
              <a:ahLst/>
              <a:cxnLst/>
              <a:rect r="r" b="b" t="t" l="l"/>
              <a:pathLst>
                <a:path h="1650686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13487"/>
                  </a:lnTo>
                  <a:cubicBezTo>
                    <a:pt x="2192553" y="1623353"/>
                    <a:pt x="2188634" y="1632815"/>
                    <a:pt x="2181658" y="1639791"/>
                  </a:cubicBezTo>
                  <a:cubicBezTo>
                    <a:pt x="2174682" y="1646767"/>
                    <a:pt x="2165220" y="1650686"/>
                    <a:pt x="2155354" y="1650686"/>
                  </a:cubicBezTo>
                  <a:lnTo>
                    <a:pt x="37199" y="1650686"/>
                  </a:lnTo>
                  <a:cubicBezTo>
                    <a:pt x="27333" y="1650686"/>
                    <a:pt x="17872" y="1646767"/>
                    <a:pt x="10895" y="1639791"/>
                  </a:cubicBezTo>
                  <a:cubicBezTo>
                    <a:pt x="3919" y="1632815"/>
                    <a:pt x="0" y="1623353"/>
                    <a:pt x="0" y="161348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D32F2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255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3352800"/>
            <a:ext cx="8324850" cy="6267450"/>
            <a:chOff x="0" y="0"/>
            <a:chExt cx="2192553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2553" cy="1650686"/>
            </a:xfrm>
            <a:custGeom>
              <a:avLst/>
              <a:gdLst/>
              <a:ahLst/>
              <a:cxnLst/>
              <a:rect r="r" b="b" t="t" l="l"/>
              <a:pathLst>
                <a:path h="1650686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13487"/>
                  </a:lnTo>
                  <a:cubicBezTo>
                    <a:pt x="2192553" y="1623353"/>
                    <a:pt x="2188634" y="1632815"/>
                    <a:pt x="2181658" y="1639791"/>
                  </a:cubicBezTo>
                  <a:cubicBezTo>
                    <a:pt x="2174682" y="1646767"/>
                    <a:pt x="2165220" y="1650686"/>
                    <a:pt x="2155354" y="1650686"/>
                  </a:cubicBezTo>
                  <a:lnTo>
                    <a:pt x="37199" y="1650686"/>
                  </a:lnTo>
                  <a:cubicBezTo>
                    <a:pt x="27333" y="1650686"/>
                    <a:pt x="17872" y="1646767"/>
                    <a:pt x="10895" y="1639791"/>
                  </a:cubicBezTo>
                  <a:cubicBezTo>
                    <a:pt x="3919" y="1632815"/>
                    <a:pt x="0" y="1623353"/>
                    <a:pt x="0" y="161348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D32F2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255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05025" y="828675"/>
            <a:ext cx="14077950" cy="110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3"/>
              </a:lnSpc>
              <a:spcBef>
                <a:spcPct val="0"/>
              </a:spcBef>
            </a:pPr>
            <a:r>
              <a:rPr lang="en-US" sz="8393" spc="-167" strike="noStrike" u="none">
                <a:solidFill>
                  <a:srgbClr val="D32F2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Effects of Inflation on Economy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800225" y="4248150"/>
            <a:ext cx="5753100" cy="2817421"/>
            <a:chOff x="0" y="0"/>
            <a:chExt cx="7670800" cy="375656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55601"/>
              <a:ext cx="7670800" cy="2600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Inflation significantly </a:t>
              </a:r>
              <a:r>
                <a:rPr lang="en-US" b="true" sz="2400" spc="-48" strike="noStrike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increases the cost of living</a:t>
              </a: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leading to higher prices for essential goods and services, which affects households’ purchasing power and overall quality of life.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28575"/>
              <a:ext cx="767080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FFFFF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Cost of Living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477716" y="4248150"/>
            <a:ext cx="5705259" cy="2817421"/>
            <a:chOff x="0" y="0"/>
            <a:chExt cx="7607012" cy="375656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4934" y="1155601"/>
              <a:ext cx="7585392" cy="2600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Small and medium enterprises (SMEs) face </a:t>
              </a:r>
              <a:r>
                <a:rPr lang="en-US" b="true" sz="2400" spc="-48" strike="noStrike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challenges in maintaining profit margins</a:t>
              </a: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due to rising operational costs, which may lead to reduced investment and potential layoffs in response to inflationary pressures.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28575"/>
              <a:ext cx="7607012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FFFFF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Impact on SMEs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true" flipV="true" rot="0">
            <a:off x="16683209" y="3726256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2" y="1497455"/>
                </a:moveTo>
                <a:lnTo>
                  <a:pt x="0" y="1497455"/>
                </a:lnTo>
                <a:lnTo>
                  <a:pt x="0" y="0"/>
                </a:lnTo>
                <a:lnTo>
                  <a:pt x="1876082" y="0"/>
                </a:lnTo>
                <a:lnTo>
                  <a:pt x="1876082" y="14974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3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8324850" cy="6267450"/>
            <a:chOff x="0" y="0"/>
            <a:chExt cx="2192553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2553" cy="1650686"/>
            </a:xfrm>
            <a:custGeom>
              <a:avLst/>
              <a:gdLst/>
              <a:ahLst/>
              <a:cxnLst/>
              <a:rect r="r" b="b" t="t" l="l"/>
              <a:pathLst>
                <a:path h="1650686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13487"/>
                  </a:lnTo>
                  <a:cubicBezTo>
                    <a:pt x="2192553" y="1623353"/>
                    <a:pt x="2188634" y="1632815"/>
                    <a:pt x="2181658" y="1639791"/>
                  </a:cubicBezTo>
                  <a:cubicBezTo>
                    <a:pt x="2174682" y="1646767"/>
                    <a:pt x="2165220" y="1650686"/>
                    <a:pt x="2155354" y="1650686"/>
                  </a:cubicBezTo>
                  <a:lnTo>
                    <a:pt x="37199" y="1650686"/>
                  </a:lnTo>
                  <a:cubicBezTo>
                    <a:pt x="27333" y="1650686"/>
                    <a:pt x="17872" y="1646767"/>
                    <a:pt x="10895" y="1639791"/>
                  </a:cubicBezTo>
                  <a:cubicBezTo>
                    <a:pt x="3919" y="1632815"/>
                    <a:pt x="0" y="1623353"/>
                    <a:pt x="0" y="161348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255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3352800"/>
            <a:ext cx="8324850" cy="6267450"/>
            <a:chOff x="0" y="0"/>
            <a:chExt cx="2192553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2553" cy="1650686"/>
            </a:xfrm>
            <a:custGeom>
              <a:avLst/>
              <a:gdLst/>
              <a:ahLst/>
              <a:cxnLst/>
              <a:rect r="r" b="b" t="t" l="l"/>
              <a:pathLst>
                <a:path h="1650686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13487"/>
                  </a:lnTo>
                  <a:cubicBezTo>
                    <a:pt x="2192553" y="1623353"/>
                    <a:pt x="2188634" y="1632815"/>
                    <a:pt x="2181658" y="1639791"/>
                  </a:cubicBezTo>
                  <a:cubicBezTo>
                    <a:pt x="2174682" y="1646767"/>
                    <a:pt x="2165220" y="1650686"/>
                    <a:pt x="2155354" y="1650686"/>
                  </a:cubicBezTo>
                  <a:lnTo>
                    <a:pt x="37199" y="1650686"/>
                  </a:lnTo>
                  <a:cubicBezTo>
                    <a:pt x="27333" y="1650686"/>
                    <a:pt x="17872" y="1646767"/>
                    <a:pt x="10895" y="1639791"/>
                  </a:cubicBezTo>
                  <a:cubicBezTo>
                    <a:pt x="3919" y="1632815"/>
                    <a:pt x="0" y="1623353"/>
                    <a:pt x="0" y="161348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255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05025" y="828675"/>
            <a:ext cx="14077950" cy="2165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3"/>
              </a:lnSpc>
              <a:spcBef>
                <a:spcPct val="0"/>
              </a:spcBef>
            </a:pPr>
            <a:r>
              <a:rPr lang="en-US" sz="8393" spc="-167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Effects of Inflation on Wages and Competitiveness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800225" y="4248150"/>
            <a:ext cx="5753100" cy="2817421"/>
            <a:chOff x="0" y="0"/>
            <a:chExt cx="7670800" cy="375656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55601"/>
              <a:ext cx="7670800" cy="2600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Inflation often leads to </a:t>
              </a:r>
              <a:r>
                <a:rPr lang="en-US" b="true" sz="2400" spc="-48" strike="noStrike" u="none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higher wage demands</a:t>
              </a: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from workers, as they seek to maintain purchasing power amidst rising costs. This can create </a:t>
              </a:r>
              <a:r>
                <a:rPr lang="en-US" b="true" sz="2400" spc="-48" strike="noStrike" u="none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pressures</a:t>
              </a: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on businesses to adjust compensation.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28575"/>
              <a:ext cx="767080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9E1A1A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Wage Growth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477716" y="4248150"/>
            <a:ext cx="5705259" cy="3207946"/>
            <a:chOff x="0" y="0"/>
            <a:chExt cx="7607012" cy="427726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4934" y="1155601"/>
              <a:ext cx="7585392" cy="3121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As inflation rises, </a:t>
              </a:r>
              <a:r>
                <a:rPr lang="en-US" b="true" sz="2400" spc="-48" strike="noStrike" u="none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Singapore's competitiveness</a:t>
              </a: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may decline, especially if wages increase faster than productivity. This can lead to </a:t>
              </a:r>
              <a:r>
                <a:rPr lang="en-US" b="true" sz="2400" spc="-48" strike="noStrike" u="none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higher operational costs</a:t>
              </a: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for businesses and potential loss of market share.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28575"/>
              <a:ext cx="7607012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9E1A1A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Economic Competitiveness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true" flipV="true" rot="0">
            <a:off x="16683209" y="3726256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2" y="1497455"/>
                </a:moveTo>
                <a:lnTo>
                  <a:pt x="0" y="1497455"/>
                </a:lnTo>
                <a:lnTo>
                  <a:pt x="0" y="0"/>
                </a:lnTo>
                <a:lnTo>
                  <a:pt x="1876082" y="0"/>
                </a:lnTo>
                <a:lnTo>
                  <a:pt x="1876082" y="14974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5448300" cy="2817495"/>
            <a:chOff x="0" y="0"/>
            <a:chExt cx="7264400" cy="37566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5700"/>
              <a:ext cx="7264400" cy="2600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Monetary Authority of Singapore (MAS) utilizes exchange rate policy as a primary tool to manage inflation, aiming to stabilize the Singapore dollar and mitigate price increases.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0"/>
              <a:ext cx="7264400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9E1A1A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MAS Monetary Policy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143500"/>
            <a:ext cx="5448300" cy="3665220"/>
            <a:chOff x="0" y="0"/>
            <a:chExt cx="7264400" cy="488696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765300"/>
              <a:ext cx="7264400" cy="3121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government implements support packages that include subsidies and direct financial assistance to ease the burden on households and businesses affected by rising prices during inflationary periods.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7264400" cy="1219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9E1A1A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Government Support Packages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143500"/>
            <a:ext cx="5448300" cy="2817495"/>
            <a:chOff x="0" y="0"/>
            <a:chExt cx="7264400" cy="375666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7264400" cy="2600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Efforts to strengthen the Singapore dollar involve interventions in the foreign exchange market to enhance purchasing power, which can help curb imported inflation and stabilize the economy.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0"/>
              <a:ext cx="7264400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9E1A1A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Strengthening SGD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12639675" cy="1790700"/>
            <a:chOff x="0" y="0"/>
            <a:chExt cx="16852900" cy="23876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69440"/>
              <a:ext cx="168529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9E1A1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Controlling Inflation in Singapore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71450"/>
              <a:ext cx="16852900" cy="1551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169" strike="noStrike" u="none">
                  <a:solidFill>
                    <a:srgbClr val="D32F2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Government Measures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16850868" y="692349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5448300" cy="2817495"/>
            <a:chOff x="0" y="0"/>
            <a:chExt cx="7264400" cy="37566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5700"/>
              <a:ext cx="7264400" cy="2600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Fiscal policies in Singapore focus on </a:t>
              </a:r>
              <a:r>
                <a:rPr lang="en-US" b="true" sz="2400" spc="-48" strike="noStrike" u="none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regulating public spending</a:t>
              </a: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and taxation to stabilize the economy, ensuring that essential services are funded while controlling inflationary pressures.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0"/>
              <a:ext cx="7264400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9E1A1A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Fiscal Policies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143500"/>
            <a:ext cx="5448300" cy="3208020"/>
            <a:chOff x="0" y="0"/>
            <a:chExt cx="7264400" cy="427736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7264400" cy="3121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Supply-side interventions aim to enhance productivity and reduce </a:t>
              </a:r>
              <a:r>
                <a:rPr lang="en-US" b="true" sz="2400" spc="-48" strike="noStrike" u="none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production costs</a:t>
              </a: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facilitating a more efficient economy that can absorb inflationary pressures without significant price increases.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7264400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9E1A1A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Supply-Side Interventions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143500"/>
            <a:ext cx="5448300" cy="2817495"/>
            <a:chOff x="0" y="0"/>
            <a:chExt cx="7264400" cy="375666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7264400" cy="2600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Wage-price controls are measures to </a:t>
              </a:r>
              <a:r>
                <a:rPr lang="en-US" b="true" sz="2400" spc="-48" strike="noStrike" u="none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regulate wage increases</a:t>
              </a:r>
              <a:r>
                <a:rPr lang="en-US" sz="2400" spc="-48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and price adjustments, aiming to prevent a wage-price spiral that could exacerbate inflationary trends in the economy.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0"/>
              <a:ext cx="7264400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9E1A1A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Wage-Price Controls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12639675" cy="1790700"/>
            <a:chOff x="0" y="0"/>
            <a:chExt cx="16852900" cy="23876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69440"/>
              <a:ext cx="168529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9E1A1A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Strategies to Control Inflation in Singapore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71450"/>
              <a:ext cx="16852900" cy="1551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169" strike="noStrike" u="none">
                  <a:solidFill>
                    <a:srgbClr val="D32F2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Government Measures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16850868" y="692349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3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3912870"/>
            <a:chOff x="0" y="0"/>
            <a:chExt cx="11099800" cy="52171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136900"/>
              <a:ext cx="110998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</a:t>
              </a:r>
              <a:r>
                <a:rPr lang="en-US" b="true" sz="2400" spc="-48" strike="noStrike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policies implemented by the Singapore government</a:t>
              </a: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have successfully managed inflation, ensuring economic stability and long-term growth. Continued focus on sustainable measures is essential for future resilience.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0975"/>
              <a:ext cx="11099800" cy="1740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Conclusion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94310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Evaluating Policy Successes and Measures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5400000">
            <a:off x="6176504" y="61454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32F2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296400" y="3533775"/>
            <a:ext cx="8324850" cy="2460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0"/>
              </a:lnSpc>
            </a:pPr>
            <a:r>
              <a:rPr lang="en-US" sz="9500" spc="-190" strike="noStrike" u="none">
                <a:solidFill>
                  <a:srgbClr val="D32F2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References and Resources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52388" y="1028700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6" y="0"/>
                </a:lnTo>
                <a:lnTo>
                  <a:pt x="1438276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Inflation in Singapore</dc:description>
  <dc:identifier>DAG4UJXSW1A</dc:identifier>
  <dcterms:modified xsi:type="dcterms:W3CDTF">2011-08-01T06:04:30Z</dcterms:modified>
  <cp:revision>1</cp:revision>
  <dc:title>Presentation - Inflation in Singapore</dc:title>
</cp:coreProperties>
</file>